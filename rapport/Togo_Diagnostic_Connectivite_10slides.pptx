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C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11899087" cy="64008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7FDBA6"/>
                </a:solidFill>
                <a:latin typeface="Calibri"/>
              </a:defRPr>
            </a:pPr>
            <a:r>
              <a:t>TOGO — ÉCONOMIE NUMÉRIQUE  •  DÉFI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Diagnostic de l'accès aux</a:t>
            </a:r>
          </a:p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télécommunications et services numériques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9D6E3"/>
                </a:solidFill>
                <a:latin typeface="Calibri"/>
              </a:defRPr>
            </a:pPr>
            <a:r>
              <a:t>Cartographie des infrastructures, analyse du Mobile Money et priorités d'extension.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94760"/>
            <a:ext cx="2514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3000" b="1">
                <a:solidFill>
                  <a:srgbClr val="0066B3"/>
                </a:solidFill>
                <a:latin typeface="Calibri"/>
              </a:defRPr>
            </a:pPr>
            <a:r>
              <a:t>90</a:t>
            </a:r>
          </a:p>
          <a:p>
            <a:pPr algn="ctr">
              <a:spcAft>
                <a:spcPts val="0"/>
              </a:spcAft>
              <a:defRPr sz="1150" b="1">
                <a:solidFill>
                  <a:srgbClr val="0B2C4D"/>
                </a:solidFill>
                <a:latin typeface="Calibri"/>
              </a:defRPr>
            </a:pPr>
            <a:r>
              <a:t>Agences</a:t>
            </a:r>
          </a:p>
          <a:p>
            <a:pPr algn="ctr">
              <a:spcAft>
                <a:spcPts val="0"/>
              </a:spcAft>
              <a:defRPr sz="1150" b="0">
                <a:solidFill>
                  <a:srgbClr val="5B6B7B"/>
                </a:solidFill>
                <a:latin typeface="Calibri"/>
              </a:defRPr>
            </a:pPr>
            <a:r>
              <a:t>Moov 28 • Togocom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794760"/>
            <a:ext cx="2514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38862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3000" b="1">
                <a:solidFill>
                  <a:srgbClr val="FF7900"/>
                </a:solidFill>
                <a:latin typeface="Calibri"/>
              </a:defRPr>
            </a:pPr>
            <a:r>
              <a:t>19 788</a:t>
            </a:r>
          </a:p>
          <a:p>
            <a:pPr algn="ctr">
              <a:spcAft>
                <a:spcPts val="0"/>
              </a:spcAft>
              <a:defRPr sz="1150" b="1">
                <a:solidFill>
                  <a:srgbClr val="0B2C4D"/>
                </a:solidFill>
                <a:latin typeface="Calibri"/>
              </a:defRPr>
            </a:pPr>
            <a:r>
              <a:t>Points Mobile Money</a:t>
            </a:r>
          </a:p>
          <a:p>
            <a:pPr algn="ctr">
              <a:spcAft>
                <a:spcPts val="0"/>
              </a:spcAft>
              <a:defRPr sz="1150" b="0">
                <a:solidFill>
                  <a:srgbClr val="5B6B7B"/>
                </a:solidFill>
                <a:latin typeface="Calibri"/>
              </a:defRPr>
            </a:pPr>
            <a:r>
              <a:t>39 préfectures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794760"/>
            <a:ext cx="2514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8862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3000" b="1">
                <a:solidFill>
                  <a:srgbClr val="00693E"/>
                </a:solidFill>
                <a:latin typeface="Calibri"/>
              </a:defRPr>
            </a:pPr>
            <a:r>
              <a:t>3</a:t>
            </a:r>
          </a:p>
          <a:p>
            <a:pPr algn="ctr">
              <a:spcAft>
                <a:spcPts val="0"/>
              </a:spcAft>
              <a:defRPr sz="1150" b="1">
                <a:solidFill>
                  <a:srgbClr val="0B2C4D"/>
                </a:solidFill>
                <a:latin typeface="Calibri"/>
              </a:defRPr>
            </a:pPr>
            <a:r>
              <a:t>Datacenters</a:t>
            </a:r>
          </a:p>
          <a:p>
            <a:pPr algn="ctr">
              <a:spcAft>
                <a:spcPts val="0"/>
              </a:spcAft>
              <a:defRPr sz="1150" b="0">
                <a:solidFill>
                  <a:srgbClr val="5B6B7B"/>
                </a:solidFill>
                <a:latin typeface="Calibri"/>
              </a:defRPr>
            </a:pPr>
            <a:r>
              <a:t>tous à Lomé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794760"/>
            <a:ext cx="2514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38862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3000" b="1">
                <a:solidFill>
                  <a:srgbClr val="D7263D"/>
                </a:solidFill>
                <a:latin typeface="Calibri"/>
              </a:defRPr>
            </a:pPr>
            <a:r>
              <a:t>12 / 39</a:t>
            </a:r>
          </a:p>
          <a:p>
            <a:pPr algn="ctr">
              <a:spcAft>
                <a:spcPts val="0"/>
              </a:spcAft>
              <a:defRPr sz="1150" b="1">
                <a:solidFill>
                  <a:srgbClr val="0B2C4D"/>
                </a:solidFill>
                <a:latin typeface="Calibri"/>
              </a:defRPr>
            </a:pPr>
            <a:r>
              <a:t>Préfectures sans agence</a:t>
            </a:r>
          </a:p>
          <a:p>
            <a:pPr algn="ctr">
              <a:spcAft>
                <a:spcPts val="0"/>
              </a:spcAft>
              <a:defRPr sz="1150" b="0">
                <a:solidFill>
                  <a:srgbClr val="5B6B7B"/>
                </a:solidFill>
                <a:latin typeface="Calibri"/>
              </a:defRPr>
            </a:pPr>
            <a:r>
              <a:t>Zones 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9D6E3"/>
                </a:solidFill>
                <a:latin typeface="Calibri"/>
              </a:defRPr>
            </a:pPr>
            <a:r>
              <a:t>Préparé par ANKOU Yaokouma Kevin  •  Dashboard Python + Rapport  •  Données ouvertes geodata.gouv.tg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FA3BF"/>
                </a:solidFill>
                <a:latin typeface="Calibri"/>
              </a:defRPr>
            </a:pPr>
            <a:r>
              <a:t>Septembre 2026 — Échelle Région / Préfecture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Problématique et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Contexte.  </a:t>
            </a:r>
            <a:r>
              <a:rPr sz="1500">
                <a:solidFill>
                  <a:srgbClr val="33475B"/>
                </a:solidFill>
                <a:latin typeface="Calibri"/>
              </a:rPr>
              <a:t>L'infrastructure visible sur une carte ne dit pas qui accède réellement aux services numériques.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Question centrale.  </a:t>
            </a:r>
            <a:r>
              <a:rPr sz="1500">
                <a:solidFill>
                  <a:srgbClr val="33475B"/>
                </a:solidFill>
                <a:latin typeface="Calibri"/>
              </a:rPr>
              <a:t>Comment les agences, les datacenters et les points Mobile Money se répartissent-ils face aux populations 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Objectifs.  </a:t>
            </a:r>
            <a:r>
              <a:rPr sz="1500">
                <a:solidFill>
                  <a:srgbClr val="33475B"/>
                </a:solidFill>
                <a:latin typeface="Calibri"/>
              </a:rPr>
              <a:t>Cartographier l'offre, mesurer l'adéquation Mobile Money, croiser offre et territoires, détecter les zones blanches, recommander.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Périmètre réel.  </a:t>
            </a:r>
            <a:r>
              <a:rPr sz="1500">
                <a:solidFill>
                  <a:srgbClr val="33475B"/>
                </a:solidFill>
                <a:latin typeface="Calibri"/>
              </a:rPr>
              <a:t>90 agences, 19 788 points Mobile Money, 3 datacenters, fichier CANAL+ vide — Région / Préfecture.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Méthodologie et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290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82296" cy="32918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B2C4D"/>
                </a:solidFill>
                <a:latin typeface="Calibri"/>
              </a:defRPr>
            </a:pPr>
            <a:r>
              <a:t>1. Sources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6 fichiers geodata.gouv.tg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Agences, Mobile Money,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datacenters + géométries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290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82296" cy="329184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8308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B2C4D"/>
                </a:solidFill>
                <a:latin typeface="Calibri"/>
              </a:defRPr>
            </a:pPr>
            <a:r>
              <a:t>2. Traitement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Télécom = union dédupliquée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Nsp vers Inconnu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Grand Lomé = Golfe + Agoè-Nyivé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290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82296" cy="32918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B2C4D"/>
                </a:solidFill>
                <a:latin typeface="Calibri"/>
              </a:defRPr>
            </a:pPr>
            <a:r>
              <a:t>3. Indicateurs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Points MoMo par agence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Priorités P1 / P2 / P3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Ratio national 220 /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B6B7B"/>
                </a:solidFill>
                <a:latin typeface="Calibri"/>
              </a:defRPr>
            </a:pPr>
            <a:r>
              <a:t>Limites assumées : pas de population RGPH ni d'antennes BTS fournies — zones blanches relatives, version 2 quantifiée en points pour 10 000 habitants.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Offre : des agences concentrées à Lomé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Fracture territoriale.  </a:t>
            </a:r>
            <a:r>
              <a:rPr sz="1500">
                <a:solidFill>
                  <a:srgbClr val="33475B"/>
                </a:solidFill>
                <a:latin typeface="Calibri"/>
              </a:rPr>
              <a:t>Maritime 51/90 (57 %) contre Savanes 6, Centrale 11, Kara 10, Plateaux 12.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Deux stratégies.  </a:t>
            </a:r>
            <a:r>
              <a:rPr sz="1500">
                <a:solidFill>
                  <a:srgbClr val="33475B"/>
                </a:solidFill>
                <a:latin typeface="Calibri"/>
              </a:rPr>
              <a:t>Togocom (62) maille 27 préfectures ; Moov (28) couvre 15 préfectures.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Point aveugle.  </a:t>
            </a:r>
            <a:r>
              <a:rPr sz="1500">
                <a:solidFill>
                  <a:srgbClr val="33475B"/>
                </a:solidFill>
                <a:latin typeface="Calibri"/>
              </a:rPr>
              <a:t>CANAL+ : fichier vide — segment à publier en open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27631"/>
            <a:ext cx="5248656" cy="4251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agences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B7B"/>
                </a:solidFill>
                <a:latin typeface="Calibri"/>
              </a:defRPr>
            </a:pPr>
            <a:r>
              <a:t>Figure 1 — Agences par région (n = 90)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Datacenters : un risque de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3 sites, 1 commune.  </a:t>
            </a:r>
            <a:r>
              <a:rPr sz="1500">
                <a:solidFill>
                  <a:srgbClr val="33475B"/>
                </a:solidFill>
                <a:latin typeface="Calibri"/>
              </a:rPr>
              <a:t>Lomé Data Center (2022), E-Gouv NOC (2016), Café Informatique Cloud (2021) — tous à Golfe.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Vulnérabilité.  </a:t>
            </a:r>
            <a:r>
              <a:rPr sz="1500">
                <a:solidFill>
                  <a:srgbClr val="33475B"/>
                </a:solidFill>
                <a:latin typeface="Calibri"/>
              </a:rPr>
              <a:t>Aucune redondance intérieure : panne unique et latence vers le nord.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Recommandation.  </a:t>
            </a:r>
            <a:r>
              <a:rPr sz="1500">
                <a:solidFill>
                  <a:srgbClr val="33475B"/>
                </a:solidFill>
                <a:latin typeface="Calibri"/>
              </a:rPr>
              <a:t>Nœud secondaire à Kara ou Sokodé adossé à la fibre.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27631"/>
            <a:ext cx="5248656" cy="4251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datacen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B7B"/>
                </a:solidFill>
                <a:latin typeface="Calibri"/>
              </a:defRPr>
            </a:pPr>
            <a:r>
              <a:t>Figure 2 — Datacenters par préfecture (n = 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Mobile Money : le vrai maillage du pays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Couverture totale.  </a:t>
            </a:r>
            <a:r>
              <a:rPr sz="1500">
                <a:solidFill>
                  <a:srgbClr val="33475B"/>
                </a:solidFill>
                <a:latin typeface="Calibri"/>
              </a:rPr>
              <a:t>19 788 points sur 39 préfectures : Golfe 5 121 contre Mô 32.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Interopérabilité de fait.  </a:t>
            </a:r>
            <a:r>
              <a:rPr sz="1500">
                <a:solidFill>
                  <a:srgbClr val="33475B"/>
                </a:solidFill>
                <a:latin typeface="Calibri"/>
              </a:rPr>
              <a:t>64 % de points mixtes Moov et Togocom ; 24 % Togocom seul.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Levier n° 1.  </a:t>
            </a:r>
            <a:r>
              <a:rPr sz="1500">
                <a:solidFill>
                  <a:srgbClr val="33475B"/>
                </a:solidFill>
                <a:latin typeface="Calibri"/>
              </a:rPr>
              <a:t>Les 12 zones sans agence sont déjà desservies en Mobile Money.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27631"/>
            <a:ext cx="5248656" cy="4251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momo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B7B"/>
                </a:solidFill>
                <a:latin typeface="Calibri"/>
              </a:defRPr>
            </a:pPr>
            <a:r>
              <a:t>Figure 3 — Points Mobile Money par région (n = 19 788)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Adéquation : la tension est hors Lomé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Ratio national.  </a:t>
            </a:r>
            <a:r>
              <a:rPr sz="1500">
                <a:solidFill>
                  <a:srgbClr val="33475B"/>
                </a:solidFill>
                <a:latin typeface="Calibri"/>
              </a:rPr>
              <a:t>220 points Mobile Money pour 1 agence.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Tension maximale.  </a:t>
            </a:r>
            <a:r>
              <a:rPr sz="1500">
                <a:solidFill>
                  <a:srgbClr val="33475B"/>
                </a:solidFill>
                <a:latin typeface="Calibri"/>
              </a:rPr>
              <a:t>Lacs 741/0, Vo 476/0, Wawa 244/0 : forte demande sans relais.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C4D"/>
                </a:solidFill>
                <a:latin typeface="Calibri"/>
              </a:rPr>
              <a:t>▪ Lecture du graphique.  </a:t>
            </a:r>
            <a:r>
              <a:rPr sz="1500">
                <a:solidFill>
                  <a:srgbClr val="33475B"/>
                </a:solidFill>
                <a:latin typeface="Calibri"/>
              </a:rPr>
              <a:t>En haut à gauche : beaucoup de Mobile Money, aucune agence.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27631"/>
            <a:ext cx="5248656" cy="4251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ad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B7B"/>
                </a:solidFill>
                <a:latin typeface="Calibri"/>
              </a:defRPr>
            </a:pPr>
            <a:r>
              <a:t>Figure 4 — Chaque point = une préfecture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Zones blanches relatives : 12 préfectures P1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8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69494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737360"/>
                <a:gridCol w="1371600"/>
                <a:gridCol w="1097280"/>
              </a:tblGrid>
              <a:tr h="34465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Préfecture</a:t>
                      </a:r>
                    </a:p>
                  </a:txBody>
                  <a:tcPr>
                    <a:solidFill>
                      <a:srgbClr val="0B2C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Région</a:t>
                      </a:r>
                    </a:p>
                  </a:txBody>
                  <a:tcPr>
                    <a:solidFill>
                      <a:srgbClr val="0B2C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 MoMo</a:t>
                      </a:r>
                    </a:p>
                  </a:txBody>
                  <a:tcPr>
                    <a:solidFill>
                      <a:srgbClr val="0B2C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Agences</a:t>
                      </a:r>
                    </a:p>
                  </a:txBody>
                  <a:tcPr>
                    <a:solidFill>
                      <a:srgbClr val="0B2C4D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Lacs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Maritime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Vo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Maritime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476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Wawa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Plateaux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Binah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Kara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Est-Mono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Plateaux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Amou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Plateaux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175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Tandjoaré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Savanes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Danyi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Plateaux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Kpendjal-Ouest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Savanes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Akébou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Plateaux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Kpendjal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Savanes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46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Mô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Centrale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7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55279" y="1600200"/>
            <a:ext cx="356616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600200"/>
            <a:ext cx="82296" cy="4480560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B2C4D"/>
                </a:solidFill>
                <a:latin typeface="Calibri"/>
              </a:defRPr>
            </a:pPr>
            <a:r>
              <a:t>Clé de lecture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P1 : 0 agence + Mobile Money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isolé — à équiper en premier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P2 : agence unique fragile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P3 : territoires desservis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Couverture radio à valider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par mesures ARCEP 2G/3G/4G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Recommandations R1-R2 : gains rapides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12064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82296" cy="210312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663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B2C4D"/>
                </a:solidFill>
                <a:latin typeface="Calibri"/>
              </a:defRPr>
            </a:pPr>
            <a:r>
              <a:t>R1 — Agences mobiles mutualisées (0-12 mois, coût faible)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Bus Moov + Togocom sur les 12 P1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Indicateur : 12 tournées mensuelles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12064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82296" cy="210312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663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B2C4D"/>
                </a:solidFill>
                <a:latin typeface="Calibri"/>
              </a:defRPr>
            </a:pPr>
            <a:r>
              <a:t>R2 — 200 relais Mobile Money labellisés (6-18 mois)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Formation + kit de services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Indicateur : +40 % d'actes hors Lomé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27631"/>
            <a:ext cx="5248656" cy="4251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top_mo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3566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6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B7B"/>
                </a:solidFill>
                <a:latin typeface="Calibri"/>
              </a:defRPr>
            </a:pPr>
            <a:r>
              <a:t>Figure 5 — Cibles R2 : top Mobile Money sans agence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0693E"/>
                </a:solidFill>
                <a:latin typeface="Calibri"/>
              </a:defRPr>
            </a:pPr>
            <a:r>
              <a:t>DIAGNOSTIC CONNECTIVITÉ TOGO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0B2C4D"/>
                </a:solidFill>
                <a:latin typeface="Calibri"/>
              </a:defRPr>
            </a:pPr>
            <a:r>
              <a:t>Recommandations R3-R4 et feuille de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50292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8288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B6B7B"/>
                </a:solidFill>
                <a:latin typeface="Calibri"/>
              </a:defRPr>
            </a:pPr>
            <a:r>
              <a:t>ANKOU Yaokouma Kevin — Défi 1 Économie Numérique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B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9496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82296" cy="201168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B2C4D"/>
                </a:solidFill>
                <a:latin typeface="Calibri"/>
              </a:defRPr>
            </a:pPr>
            <a:r>
              <a:t>R3 — Datacenter Kara / Sokodé (12-36 mois)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Redondance + fibre, reprise &lt; 4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39496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645920"/>
            <a:ext cx="82296" cy="201168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B2C4D"/>
                </a:solidFill>
                <a:latin typeface="Calibri"/>
              </a:defRPr>
            </a:pPr>
            <a:r>
              <a:t>R4 — Transparence open data (3 mois, coût nul)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33475B"/>
                </a:solidFill>
                <a:latin typeface="Calibri"/>
              </a:defRPr>
            </a:pPr>
            <a:r>
              <a:t>•  CANAL+, population RGPH, antennes BTS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319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2000" b="1">
                <a:solidFill>
                  <a:srgbClr val="00693E"/>
                </a:solidFill>
                <a:latin typeface="Calibri"/>
              </a:defRPr>
            </a:pPr>
            <a:r>
              <a:t>T0</a:t>
            </a:r>
          </a:p>
          <a:p>
            <a:pPr algn="ctr">
              <a:spcAft>
                <a:spcPts val="0"/>
              </a:spcAft>
              <a:defRPr sz="1250" b="1">
                <a:solidFill>
                  <a:srgbClr val="0B2C4D"/>
                </a:solidFill>
                <a:latin typeface="Calibri"/>
              </a:defRPr>
            </a:pPr>
            <a:r>
              <a:t>R4</a:t>
            </a:r>
          </a:p>
          <a:p>
            <a:pPr algn="ctr">
              <a:spcAft>
                <a:spcPts val="0"/>
              </a:spcAft>
              <a:defRPr sz="1250" b="1">
                <a:solidFill>
                  <a:srgbClr val="0B2C4D"/>
                </a:solidFill>
                <a:latin typeface="Calibri"/>
              </a:defRPr>
            </a:pPr>
            <a:r>
              <a:t>Publier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8620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39319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2000" b="1">
                <a:solidFill>
                  <a:srgbClr val="00693E"/>
                </a:solidFill>
                <a:latin typeface="Calibri"/>
              </a:defRPr>
            </a:pPr>
            <a:r>
              <a:t>T+6</a:t>
            </a:r>
          </a:p>
          <a:p>
            <a:pPr algn="ctr">
              <a:spcAft>
                <a:spcPts val="0"/>
              </a:spcAft>
              <a:defRPr sz="1250" b="1">
                <a:solidFill>
                  <a:srgbClr val="0B2C4D"/>
                </a:solidFill>
                <a:latin typeface="Calibri"/>
              </a:defRPr>
            </a:pPr>
            <a:r>
              <a:t>R1</a:t>
            </a:r>
          </a:p>
          <a:p>
            <a:pPr algn="ctr">
              <a:spcAft>
                <a:spcPts val="0"/>
              </a:spcAft>
              <a:defRPr sz="1250" b="1">
                <a:solidFill>
                  <a:srgbClr val="0B2C4D"/>
                </a:solidFill>
                <a:latin typeface="Calibri"/>
              </a:defRPr>
            </a:pPr>
            <a:r>
              <a:t>Bus mobiles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8620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319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2000" b="1">
                <a:solidFill>
                  <a:srgbClr val="00693E"/>
                </a:solidFill>
                <a:latin typeface="Calibri"/>
              </a:defRPr>
            </a:pPr>
            <a:r>
              <a:t>T+12</a:t>
            </a:r>
          </a:p>
          <a:p>
            <a:pPr algn="ctr">
              <a:spcAft>
                <a:spcPts val="0"/>
              </a:spcAft>
              <a:defRPr sz="1250" b="1">
                <a:solidFill>
                  <a:srgbClr val="0B2C4D"/>
                </a:solidFill>
                <a:latin typeface="Calibri"/>
              </a:defRPr>
            </a:pPr>
            <a:r>
              <a:t>R2</a:t>
            </a:r>
          </a:p>
          <a:p>
            <a:pPr algn="ctr">
              <a:spcAft>
                <a:spcPts val="0"/>
              </a:spcAft>
              <a:defRPr sz="1250" b="1">
                <a:solidFill>
                  <a:srgbClr val="0B2C4D"/>
                </a:solidFill>
                <a:latin typeface="Calibri"/>
              </a:defRPr>
            </a:pPr>
            <a:r>
              <a:t>200 relais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88620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00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39319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2000" b="1">
                <a:solidFill>
                  <a:srgbClr val="00693E"/>
                </a:solidFill>
                <a:latin typeface="Calibri"/>
              </a:defRPr>
            </a:pPr>
            <a:r>
              <a:t>T+24</a:t>
            </a:r>
          </a:p>
          <a:p>
            <a:pPr algn="ctr">
              <a:spcAft>
                <a:spcPts val="0"/>
              </a:spcAft>
              <a:defRPr sz="1250" b="1">
                <a:solidFill>
                  <a:srgbClr val="0B2C4D"/>
                </a:solidFill>
                <a:latin typeface="Calibri"/>
              </a:defRPr>
            </a:pPr>
            <a:r>
              <a:t>R3</a:t>
            </a:r>
          </a:p>
          <a:p>
            <a:pPr algn="ctr">
              <a:spcAft>
                <a:spcPts val="0"/>
              </a:spcAft>
              <a:defRPr sz="1250" b="1">
                <a:solidFill>
                  <a:srgbClr val="0B2C4D"/>
                </a:solidFill>
                <a:latin typeface="Calibri"/>
              </a:defRPr>
            </a:pPr>
            <a:r>
              <a:t>Datacenter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0">
                <a:solidFill>
                  <a:srgbClr val="5B6B7B"/>
                </a:solidFill>
                <a:latin typeface="Calibri"/>
              </a:defRPr>
            </a:pPr>
            <a:r>
              <a:t>Pilotes : ARCEP, Togo Digital, opérateurs — Suivi : file d'attente, actes hors Lomé, latence nord, jeux publiés.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